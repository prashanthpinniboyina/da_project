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647CD-878C-841F-B322-E4B50C6E91E2}" v="16" dt="2026-07-11T19:22:40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Observations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05-4230-B0E2-F0436FA45F67}"/>
              </c:ext>
            </c:extLst>
          </c:dPt>
          <c:dPt>
            <c:idx val="1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05-4230-B0E2-F0436FA45F67}"/>
              </c:ext>
            </c:extLst>
          </c:dPt>
          <c:dPt>
            <c:idx val="2"/>
            <c:invertIfNegative val="0"/>
            <c:bubble3D val="0"/>
            <c:spPr>
              <a:solidFill>
                <a:srgbClr val="EF6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05-4230-B0E2-F0436FA45F67}"/>
              </c:ext>
            </c:extLst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05-4230-B0E2-F0436FA45F6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Good</c:v>
                </c:pt>
                <c:pt idx="1">
                  <c:v>Moderate</c:v>
                </c:pt>
                <c:pt idx="2">
                  <c:v>Unhealthy</c:v>
                </c:pt>
                <c:pt idx="3">
                  <c:v>Very Unhealthy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297</c:v>
                </c:pt>
                <c:pt idx="1">
                  <c:v>673</c:v>
                </c:pt>
                <c:pt idx="2">
                  <c:v>1330</c:v>
                </c:pt>
                <c:pt idx="3">
                  <c:v>1360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05-4230-B0E2-F0436FA45F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50"/>
        </c:scaling>
        <c:delete val="0"/>
        <c:axPos val="l"/>
        <c:majorGridlines>
          <c:spPr>
            <a:ln w="9525" cap="flat">
              <a:solidFill>
                <a:srgbClr val="E4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AQI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PM10</c:v>
                </c:pt>
                <c:pt idx="1">
                  <c:v>Humidity</c:v>
                </c:pt>
                <c:pt idx="2">
                  <c:v>PM2.5</c:v>
                </c:pt>
                <c:pt idx="3">
                  <c:v>Wind Speed</c:v>
                </c:pt>
                <c:pt idx="4">
                  <c:v>NO2</c:v>
                </c:pt>
                <c:pt idx="5">
                  <c:v>CO</c:v>
                </c:pt>
                <c:pt idx="6">
                  <c:v>O3</c:v>
                </c:pt>
                <c:pt idx="7">
                  <c:v>Temperature</c:v>
                </c:pt>
                <c:pt idx="8">
                  <c:v>SO2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3.1E-2</c:v>
                </c:pt>
                <c:pt idx="1">
                  <c:v>2E-3</c:v>
                </c:pt>
                <c:pt idx="2">
                  <c:v>2E-3</c:v>
                </c:pt>
                <c:pt idx="3">
                  <c:v>-4.0000000000000001E-3</c:v>
                </c:pt>
                <c:pt idx="4">
                  <c:v>-5.0000000000000001E-3</c:v>
                </c:pt>
                <c:pt idx="5">
                  <c:v>-5.0000000000000001E-3</c:v>
                </c:pt>
                <c:pt idx="6">
                  <c:v>-1.4999999999999999E-2</c:v>
                </c:pt>
                <c:pt idx="7">
                  <c:v>-1.7000000000000001E-2</c:v>
                </c:pt>
                <c:pt idx="8">
                  <c:v>-2.5000000000000001E-2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9-4B0C-B051-9FE2A8635B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5"/>
          <c:min val="-0.05"/>
        </c:scaling>
        <c:delete val="0"/>
        <c:axPos val="b"/>
        <c:majorGridlines>
          <c:spPr>
            <a:ln w="9525" cap="flat">
              <a:solidFill>
                <a:srgbClr val="E4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0B3D5C"/>
                </a:solidFill>
                <a:latin typeface="Calibri"/>
              </a:rPr>
              <a:t>Overall Test Accuracy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BA-41F5-A648-477833325052}"/>
              </c:ext>
            </c:extLst>
          </c:dPt>
          <c:dPt>
            <c:idx val="1"/>
            <c:invertIfNegative val="0"/>
            <c:bubble3D val="0"/>
            <c:spPr>
              <a:solidFill>
                <a:srgbClr val="0B3D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BA-41F5-A648-47783332505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46.3</c:v>
                </c:pt>
                <c:pt idx="1">
                  <c:v>73.400000000000006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BA-41F5-A648-4778333250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9525" cap="flat">
              <a:solidFill>
                <a:srgbClr val="E4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1795F-5966-4576-BE61-AC0D30559DB9}" type="datetimeFigureOut">
              <a:t>11/07/2026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4F201-58B2-404D-AC72-007A290FFA1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22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7315200" cy="7315200"/>
          </a:xfrm>
          <a:prstGeom prst="ellipse">
            <a:avLst/>
          </a:prstGeom>
          <a:solidFill>
            <a:srgbClr val="082C42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365760"/>
            <a:ext cx="5029200" cy="50292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Air Quality</a:t>
            </a:r>
            <a:endParaRPr lang="en-US" sz="5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C7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and Machine Learning for AQI Classification Across Ten Global Cities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919472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Prashanth Pinniboyina  ·  65712996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Raj Pampari  ·  44929952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Praneeth Kumar  ·  87020878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4919472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Manogna Mannala  ·  23921991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Babu  ·  74336308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Air Quality Analytics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21371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 Environmental Problem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affects billions of people and remains one of the most pressing environmental and public-health challenges worldwide.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965960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1" name="Image 1" descr="/home/claude/icons/lu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256" y="213713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Health &amp; Climate Impact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35508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particulates and gaseous pollutants are directly linked to respiratory illness, cardiovascular disease, and long-term climate effects.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60520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136" y="433169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422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Reveals Patterns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8920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analysis of pollutant and meteorological data helps uncover trends that are invisible in raw daily readings.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4160520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1" name="Image 3" descr="/home/claude/icons/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256" y="433169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422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Supports Decision-Making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355080" y="48920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and forecasting air quality gives policymakers and city planners an evidence base for intervention.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694944"/>
          </a:xfrm>
          <a:prstGeom prst="roundRect">
            <a:avLst>
              <a:gd name="adj" fmla="val 9211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836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14423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CB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48840" y="1783080"/>
            <a:ext cx="9326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global air quality data across 10 major cities in 9 countries.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111099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7249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285567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24328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CB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148840" y="2624328"/>
            <a:ext cx="9326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rigorous data cleaning and exploratory data analysis (EDA).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11109960" cy="694944"/>
          </a:xfrm>
          <a:prstGeom prst="roundRect">
            <a:avLst>
              <a:gd name="adj" fmla="val 9211"/>
            </a:avLst>
          </a:prstGeom>
          <a:solidFill>
            <a:srgbClr val="EAF3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/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36969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465576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CB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148840" y="3465576"/>
            <a:ext cx="9326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hypothesis tests — T-Test and ANOVA — to validate pollution patterns.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48640" y="4306824"/>
            <a:ext cx="1110996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4074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53816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306824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CB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2148840" y="4306824"/>
            <a:ext cx="9326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machine learning models to classify and predict air quality.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548640" y="5148072"/>
            <a:ext cx="11109960" cy="694944"/>
          </a:xfrm>
          <a:prstGeom prst="roundRect">
            <a:avLst>
              <a:gd name="adj" fmla="val 9211"/>
            </a:avLst>
          </a:prstGeom>
          <a:solidFill>
            <a:srgbClr val="EAF3F6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2486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icons/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99" y="5379415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148072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CB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2148840" y="5148072"/>
            <a:ext cx="9326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 and interpret results critically.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3,660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254203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41448" y="173736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2441448" y="18562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254203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Cities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34256" y="173736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18562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07408" y="254203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27064" y="173736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6227064" y="18562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0216" y="254203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19872" y="173736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18562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193024" y="254203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— Jan to Dec 2024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12680" y="1737360"/>
            <a:ext cx="1755648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18562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085832" y="254203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Covered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73989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(USA)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83280" y="373989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3584448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(USA)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1422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0599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(UK)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383280" y="41422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3584448" y="40599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(China)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54456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44622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(India)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383280" y="454456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3584448" y="44622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(France)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9469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864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(Japan)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383280" y="49469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3584448" y="4864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(Australia)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53492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2669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(Brazil)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383280" y="53492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3584448" y="52669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(Egypt)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30936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Variables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309360" y="36576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3840480"/>
            <a:ext cx="4800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 ·  PM2.5 (µg/m³)  ·  PM10 (µg/m³)  ·  NO₂ (ppb)  ·  SO₂ (ppb)  ·  CO (ppm)  ·  O₃ (ppb)  ·  Temperature (°C)  ·  Humidity (%)  ·  Wind Speed (m/s)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31620" y="1828800"/>
            <a:ext cx="9144000" cy="0"/>
          </a:xfrm>
          <a:prstGeom prst="line">
            <a:avLst/>
          </a:prstGeom>
          <a:noFill/>
          <a:ln w="25400">
            <a:solidFill>
              <a:srgbClr val="C7D9E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75588" y="157276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5588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965960" cy="2057400"/>
          </a:xfrm>
          <a:prstGeom prst="roundRect">
            <a:avLst>
              <a:gd name="adj" fmla="val 4186"/>
            </a:avLst>
          </a:prstGeom>
          <a:solidFill>
            <a:srgbClr val="0B3D5C"/>
          </a:solidFill>
          <a:ln/>
        </p:spPr>
      </p:sp>
      <p:sp>
        <p:nvSpPr>
          <p:cNvPr id="8" name="Shape 6"/>
          <p:cNvSpPr/>
          <p:nvPr/>
        </p:nvSpPr>
        <p:spPr>
          <a:xfrm>
            <a:off x="1239012" y="258775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168" y="273990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31927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Understand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" y="3776472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data, review structure &amp; summary statistics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61588" y="157276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1588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834640" y="2331720"/>
            <a:ext cx="1965960" cy="205740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3525012" y="258775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1" descr="/home/claude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168" y="2739908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44368" y="331927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Engineer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980944" y="3776472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integrity, build AQI category &amp; binary targets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847588" y="157276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47588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120640" y="2331720"/>
            <a:ext cx="1965960" cy="2057400"/>
          </a:xfrm>
          <a:prstGeom prst="roundRect">
            <a:avLst>
              <a:gd name="adj" fmla="val 4186"/>
            </a:avLst>
          </a:prstGeom>
          <a:solidFill>
            <a:srgbClr val="0B3D5C"/>
          </a:solidFill>
          <a:ln/>
        </p:spPr>
      </p:sp>
      <p:sp>
        <p:nvSpPr>
          <p:cNvPr id="22" name="Shape 18"/>
          <p:cNvSpPr/>
          <p:nvPr/>
        </p:nvSpPr>
        <p:spPr>
          <a:xfrm>
            <a:off x="5811012" y="258775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2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168" y="2739908"/>
            <a:ext cx="280904" cy="2809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30368" y="331927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(EDA)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266944" y="3776472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correlation analysis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8133588" y="157276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133588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7406640" y="2331720"/>
            <a:ext cx="1965960" cy="205740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29" name="Shape 24"/>
          <p:cNvSpPr/>
          <p:nvPr/>
        </p:nvSpPr>
        <p:spPr>
          <a:xfrm>
            <a:off x="8097012" y="258775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0" name="Image 3" descr="/home/claude/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9168" y="2739908"/>
            <a:ext cx="280904" cy="28090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16368" y="331927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552944" y="3776472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and ANOVA on PM2.5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10419588" y="157276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0419588" y="15727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9692640" y="2331720"/>
            <a:ext cx="1965960" cy="2057400"/>
          </a:xfrm>
          <a:prstGeom prst="roundRect">
            <a:avLst>
              <a:gd name="adj" fmla="val 4186"/>
            </a:avLst>
          </a:prstGeom>
          <a:solidFill>
            <a:srgbClr val="0B3D5C"/>
          </a:solidFill>
          <a:ln/>
        </p:spPr>
      </p:sp>
      <p:sp>
        <p:nvSpPr>
          <p:cNvPr id="36" name="Shape 30"/>
          <p:cNvSpPr/>
          <p:nvPr/>
        </p:nvSpPr>
        <p:spPr>
          <a:xfrm>
            <a:off x="10383012" y="258775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4" descr="/home/claude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5168" y="2739908"/>
            <a:ext cx="280904" cy="28090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802368" y="3319272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Evaluate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9838944" y="3776472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vs. Random Forest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&amp; Target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CATEGORY THRESHOLDS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396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≤ 50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19272" y="205740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9A825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21396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56432" y="2542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– 100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89904" y="205740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6C00"/>
          </a:solidFill>
          <a:ln/>
        </p:spPr>
      </p:sp>
      <p:sp>
        <p:nvSpPr>
          <p:cNvPr id="12" name="Text 10"/>
          <p:cNvSpPr/>
          <p:nvPr/>
        </p:nvSpPr>
        <p:spPr>
          <a:xfrm>
            <a:off x="6227064" y="21396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Unhealthy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27064" y="2542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– 200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60536" y="205740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8997696" y="21396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Unhealthy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997696" y="2542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FOUR CLASSES TO A BINARY TARGET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EAF3F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416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+ Moderate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49040" y="40416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D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43400" y="40416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(0)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572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Unhealthy + Very Unhealthy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D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34340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(1)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40880" y="4041648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the four-way AQI split is highly imbalanced (8% Good vs. 37% Very Unhealthy), so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reframed as binary classification to give models a more learnable, balanced signal.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AQI Category Distribution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91109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719072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skewed toward poor air quality: 73.5% of all daily readings fall into Unhealthy or Very Unhealthy.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314553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2953512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8.1% of observations qualify as Good — this scarcity motivates the binary Safe / Unsafe reframing.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437997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187952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a key consideration carried into every model in this project.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AQI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70408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794760" cy="4343400"/>
          </a:xfrm>
          <a:prstGeom prst="roundRect">
            <a:avLst>
              <a:gd name="adj" fmla="val 1928"/>
            </a:avLst>
          </a:prstGeom>
          <a:solidFill>
            <a:srgbClr val="EAF3F6"/>
          </a:solidFill>
          <a:ln/>
        </p:spPr>
      </p:sp>
      <p:sp>
        <p:nvSpPr>
          <p:cNvPr id="6" name="Shape 3"/>
          <p:cNvSpPr/>
          <p:nvPr/>
        </p:nvSpPr>
        <p:spPr>
          <a:xfrm>
            <a:off x="8138160" y="1965960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/home/claude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06" y="210860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239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Finding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13816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 coefficients between every pollutant / weather feature and AQI are close to zero (all |r| &lt; 0.05). None of the individual features shows a linear relationship with AQI in this dataset.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138160" y="41605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contradicts the intuitive expectation that PM2.5 / PM10 drive AQI directly, and signals that the target may be generated independently of the feature columns in this dataset.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0B3D5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2173346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T-Test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Independent-samples t-test comparing PM2.5 between the Safe and Unsafe groups.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3886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-0.069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3756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337560" y="3886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868680" y="461772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082C42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727448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≫ 0.05  →  Fail to reject H₀. No statistically significant difference in mean PM2.5 between Safe and Unsafe air-quality groups.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1737360"/>
            <a:ext cx="5440680" cy="4343400"/>
          </a:xfrm>
          <a:prstGeom prst="roundRect">
            <a:avLst>
              <a:gd name="adj" fmla="val 1895"/>
            </a:avLst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2011680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7" name="Image 1" descr="/home/claude/icons/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626" y="2173346"/>
            <a:ext cx="298460" cy="298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0" y="2084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 (F-Test)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6537960" y="2788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comparing PM2.5 means across all four AQI categories (Good / Moderate / Unhealthy / Very Unhealthy).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3796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37960" y="3886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0.593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900684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9006840" y="3886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0.619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6537960" y="461772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082C42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4727448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≫ 0.05  →  Fail to reject H₀. No statistically significant difference in mean PM2.5 across the four AQI categories.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987552"/>
          </a:xfrm>
          <a:prstGeom prst="roundRect">
            <a:avLst>
              <a:gd name="adj" fmla="val 6481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56816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icons/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2118482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709160" y="185623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stratified on the binary target to preserve class ratio (train n = 2,928, test n = 732).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16936"/>
            <a:ext cx="11109960" cy="987552"/>
          </a:xfrm>
          <a:prstGeom prst="roundRect">
            <a:avLst>
              <a:gd name="adj" fmla="val 6481"/>
            </a:avLst>
          </a:prstGeom>
          <a:solidFill>
            <a:srgbClr val="EAF3F6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090672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1" name="Image 1" descr="/home/claude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325233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900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09160" y="2990088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the 9 numeric predictors for the scale-sensitive Logistic Regression model.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50792"/>
            <a:ext cx="11109960" cy="987552"/>
          </a:xfrm>
          <a:prstGeom prst="roundRect">
            <a:avLst>
              <a:gd name="adj" fmla="val 6481"/>
            </a:avLst>
          </a:prstGeom>
          <a:solidFill>
            <a:srgbClr val="EAF3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224528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/home/claude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386194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23944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709160" y="412394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classifier, class_weight = "balanced", max_iter = 2000.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184648"/>
            <a:ext cx="11109960" cy="987552"/>
          </a:xfrm>
          <a:prstGeom prst="roundRect">
            <a:avLst>
              <a:gd name="adj" fmla="val 6481"/>
            </a:avLst>
          </a:prstGeom>
          <a:solidFill>
            <a:srgbClr val="EAF3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358384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1" name="Image 3" descr="/home/claude/icons/tas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5520050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257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709160" y="52578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300 trees, class_weight = "balanced", random_state = 42, trained on unscaled features.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44805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691640"/>
          <a:ext cx="6263640" cy="2788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(0)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 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(0)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 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709160"/>
            <a:ext cx="11109960" cy="1508760"/>
          </a:xfrm>
          <a:prstGeom prst="roundRect">
            <a:avLst>
              <a:gd name="adj" fmla="val 4848"/>
            </a:avLst>
          </a:prstGeom>
          <a:solidFill>
            <a:srgbClr val="EAF3F6"/>
          </a:solidFill>
          <a:ln/>
        </p:spPr>
      </p:sp>
      <p:sp>
        <p:nvSpPr>
          <p:cNvPr id="7" name="Shape 3"/>
          <p:cNvSpPr/>
          <p:nvPr/>
        </p:nvSpPr>
        <p:spPr>
          <a:xfrm>
            <a:off x="777240" y="4919472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8" name="Image 0" descr="/home/claude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5062118"/>
            <a:ext cx="263347" cy="2633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4828032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is not the full story. Random Forest reaches 73.4% accuracy largely by predicting the majority "Unsafe" class almost every time (0.00 precision/recall on "Safe") — its test-set share happens to be 73.5%. Logistic Regression is less accurate overall but the only model that identifies any "Safe" cases at all.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Results Honestly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6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21371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Near-Zero Correlations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predictor correlates with AQI at |r| &lt; 0.05, so a linear or tree-based model has little true signal to learn from in this dataset.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96596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1" name="Image 1" descr="/home/claude/icons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256" y="213713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Non-Significant Tests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5508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T-Test (p = 0.945) and ANOVA (p = 0.619) fail to reject the null — PM2.5 does not differ significantly across Safe/Unsafe groups or AQI categories here.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6052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/home/claude/icons/rand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136" y="433169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422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Degenerate Classifier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8920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Forest's higher accuracy is driven by class imbalance, not genuine discrimination — it collapses to predicting the majority class.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AF3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416052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21" name="Image 3" descr="/home/claude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256" y="433169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422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Likely Synthetic Data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55080" y="48920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of flat correlations and non-significant tests suggests the AQI column may have been generated independently of the pollutant features.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7685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analytics pipeline was built: cleaning, EDA, hypothesis testing, and two classification models.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3697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reframing (Safe vs. Unsafe) addressed severe class imbalance in the raw AQI categories.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9709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and model behavior told a consistent story: this dataset shows little true relationship between the measured pollutants and AQI.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15721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834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core value is methodological — a rigorous, honest pipeline that surfaces a data-quality finding, not just a headline accuracy number.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0" cy="4389120"/>
          </a:xfrm>
          <a:prstGeom prst="line">
            <a:avLst/>
          </a:prstGeom>
          <a:noFill/>
          <a:ln w="12700">
            <a:solidFill>
              <a:srgbClr val="1E4C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0" descr="/home/claude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99" y="2325319"/>
            <a:ext cx="241402" cy="24140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178040" y="21488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data provenance and, if synthetic, source a real-world pollutant/AQI dataset.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9224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1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328543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8040" y="31089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time-based features (lag, rolling average, seasonality) instead of same-day readings only.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/home/claude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999" y="4245559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78040" y="40690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non-linear models (gradient boosting) and SMOTE-based resampling instead of class weighting alone.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92240" y="5074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3" descr="/home/claude/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999" y="5205679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78040" y="50292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city/region as a categorical feature to capture location-specific pollution baselines.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560320"/>
            <a:ext cx="7315200" cy="7315200"/>
          </a:xfrm>
          <a:prstGeom prst="ellipse">
            <a:avLst/>
          </a:prstGeom>
          <a:solidFill>
            <a:srgbClr val="082C42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508760"/>
            <a:ext cx="1005840" cy="1005840"/>
          </a:xfrm>
          <a:prstGeom prst="ellipse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66360" y="4343400"/>
            <a:ext cx="1828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Prashanth Pinniboyina  ·  Rohan Raj Pampari  ·  Praneeth Kumar  ·  Manogna Mannala  ·  Harshavardhan Babu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15</cp:revision>
  <dcterms:created xsi:type="dcterms:W3CDTF">2026-07-11T19:13:56Z</dcterms:created>
  <dcterms:modified xsi:type="dcterms:W3CDTF">2026-07-11T19:28:38Z</dcterms:modified>
</cp:coreProperties>
</file>